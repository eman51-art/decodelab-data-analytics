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REVIEW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 Boardroom Insights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4  —  Data Visualization &amp; Storytelling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97280" cy="36576"/>
          </a:xfrm>
          <a:prstGeom prst="rect">
            <a:avLst/>
          </a:prstGeom>
          <a:solidFill>
            <a:srgbClr val="37849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Iqbal   </a:t>
            </a:r>
            <a:pPr indent="0" marL="0">
              <a:buNone/>
            </a:pPr>
            <a:r>
              <a:rPr lang="en-US" sz="13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Batch 2026  |  Powered by DecodeLabs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Orders Analyzed  •  3-Task Analytics Pipeline  •  8 Executive Visualizations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Year of Trading Across 1,200 Orders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snapshot before we identify what changed and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6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6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 combined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6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0936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coupons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9659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6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Channels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34747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Email, Google, Facebook, Referral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following slides answers one question: where is this performance heading, and what should we do about it?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Has Fallen 55% Since 2023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not just slowed — it has reversed for two straight years.</a:t>
            </a:r>
            <a:endParaRPr lang="en-US" sz="1300" dirty="0"/>
          </a:p>
        </p:txBody>
      </p:sp>
      <p:pic>
        <p:nvPicPr>
          <p:cNvPr id="5" name="Image 0" descr="charts/yea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949440" cy="4224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is a partial year in this dataset, so the drop is steeper on paper —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2023→2024 decline (510 → 459) is already a real, full-year signal.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39776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44348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2025 as an early warning, not noise. The retention and referral issues on the next slides help explain the trend.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Collapse Every Year Once Q3 Begins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halves between June's peak and September's low — a predictable, recurring pattern.</a:t>
            </a:r>
            <a:endParaRPr lang="en-US" sz="1300" dirty="0"/>
          </a:p>
        </p:txBody>
      </p:sp>
      <p:pic>
        <p:nvPicPr>
          <p:cNvPr id="5" name="Image 0" descr="charts/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1024128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 of Orders Are Cancelled or Returned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failure rate is quietly erasing more than a third of total revenue.</a:t>
            </a:r>
            <a:endParaRPr lang="en-US" sz="1300" dirty="0"/>
          </a:p>
        </p:txBody>
      </p:sp>
      <p:pic>
        <p:nvPicPr>
          <p:cNvPr id="5" name="Image 0" descr="charts/order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41605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965960"/>
            <a:ext cx="6492240" cy="1554480"/>
          </a:xfrm>
          <a:prstGeom prst="roundRect">
            <a:avLst>
              <a:gd name="adj" fmla="val 4706"/>
            </a:avLst>
          </a:prstGeom>
          <a:solidFill>
            <a:srgbClr val="1031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$519,674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0" y="2240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Cancelled + Returned orders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(41.1% of $1.26M total revenue)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20640" y="4160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largest value-recovery opportunity in the dataset.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5-point reduction in the combined Cancelled + Returned rate would recover an estimated $63,000+ in revenue.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5623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audit checkout friction and post-purchase quality for the top 2 affected products.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NEED: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 Leads, But the Top 3 Products Are Nearly Tied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Chair, Printer, and Laptop sit within $3,500 of each other in revenue — no single hero product.</a:t>
            </a:r>
            <a:endParaRPr lang="en-US" sz="1300" dirty="0"/>
          </a:p>
        </p:txBody>
      </p:sp>
      <p:pic>
        <p:nvPicPr>
          <p:cNvPr id="5" name="Image 0" descr="charts/top_5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623560" cy="3429000"/>
          </a:xfrm>
          <a:prstGeom prst="rect">
            <a:avLst/>
          </a:prstGeom>
        </p:spPr>
      </p:pic>
      <p:pic>
        <p:nvPicPr>
          <p:cNvPr id="6" name="Image 1" descr="charts/top_5_quant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62356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Inventory and marketing budgets should treat Chair, Printer, and Laptop as a co-equal “core three” rather than over-indexing on a single flagship SKU.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NEED: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Is the Top Revenue Channel — by $13K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within striking distance — this is a lead to extend, not a runaway win.</a:t>
            </a:r>
            <a:endParaRPr lang="en-US" sz="1300" dirty="0"/>
          </a:p>
        </p:txBody>
      </p:sp>
      <p:pic>
        <p:nvPicPr>
          <p:cNvPr id="5" name="Image 0" descr="charts/referral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37360"/>
            <a:ext cx="92354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NEED: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Payment Method Dominates — Online Leads Narrowly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options sit within 2.3 points of each other, at roughly 19–22% each.</a:t>
            </a:r>
            <a:endParaRPr lang="en-US" sz="1300" dirty="0"/>
          </a:p>
        </p:txBody>
      </p:sp>
      <p:pic>
        <p:nvPicPr>
          <p:cNvPr id="5" name="Image 0" descr="charts/payment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600200"/>
            <a:ext cx="41148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6060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preference is this evenly split, do not consolidate checkout options. Keep all five — removing any one risks alienating ~1-in-5 customers.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FREESHIP Beats Every Coupon — Including No Coupon at All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drives both the highest total revenue and the highest average order value.</a:t>
            </a:r>
            <a:endParaRPr lang="en-US" sz="1300" dirty="0"/>
          </a:p>
        </p:txBody>
      </p:sp>
      <p:pic>
        <p:nvPicPr>
          <p:cNvPr id="5" name="Image 0" descr="charts/coupon_grou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978408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for the Next Quarter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031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return/cancel funnel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checkout &amp; fulfillment for Chair and Printer, the top revenue products, to recover part of the $519K currently lost.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031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SAVE10 / WINTER15 with FREESHIP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already outperforms both discount coupons on revenue and AOV — shift promo budget accordingly.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031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" y="4846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Instagram ad spend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349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top revenue channel; test a measured budget increase and track incremental orders.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031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846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a Q3 retention campaign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349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September dip repeats every year — launch a win-back offer in August, before the drop-off starts.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E-Commerce Analytics — Project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methodology, data, or the recommendations are welcome.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1097280" cy="36576"/>
          </a:xfrm>
          <a:prstGeom prst="rect">
            <a:avLst/>
          </a:prstGeom>
          <a:solidFill>
            <a:srgbClr val="37849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Iqbal — DecodeLabs Data Analytics Internship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decodelabs.tech@gmail.com   •   www.decodelabs.tech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D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Lucknow, India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2026-07-30T10:44:06Z</dcterms:created>
  <dcterms:modified xsi:type="dcterms:W3CDTF">2026-07-30T10:44:06Z</dcterms:modified>
</cp:coreProperties>
</file>